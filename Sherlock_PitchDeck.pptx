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22860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spc="1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SHERLOCK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Intelligence. Offline.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852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paralegal that never leaves the building.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0" y="3337560"/>
            <a:ext cx="914400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681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Sherlock Legal Intelligence™  —  Proprietary &amp;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7680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law firms are stuck in the pre-AI era.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8138160" cy="16459"/>
          </a:xfrm>
          <a:prstGeom prst="rect">
            <a:avLst/>
          </a:prstGeom>
          <a:solidFill>
            <a:srgbClr val="2E3350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Law firms can't use cloud AI.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5394960" cy="29718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Attorney-client privilege prohibits uploading case files to ChatGPT, Copilot, or any cloud service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materials: depositions, contracts, medical records, financial disclosures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ethics rules in most jurisdictions prohibit unencrypted third-party transmission of client 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e-discovery tools cost $50K–$500K/year and still require internet connectivity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Associates spend 60–70% of billable time on document review AI could handle in seconds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170432"/>
            <a:ext cx="2560320" cy="128016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234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E0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6263640" y="19385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associate time 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review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2606040"/>
            <a:ext cx="2560320" cy="128016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6700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$500K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263640" y="33101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for legacy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e-discovery tools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Sherlock Legal Intelligence™  —  Proprietary &amp; Confidential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0" y="5102352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7680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that stays on your network.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8138160" cy="16459"/>
          </a:xfrm>
          <a:prstGeom prst="rect">
            <a:avLst/>
          </a:prstGeom>
          <a:solidFill>
            <a:srgbClr val="2E3350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Sherlock: The AI That Stays On Your Network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8229600" cy="25603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air-gapped — runs entirely on your LAN, zero data ever leaves the building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on any Mac or Linux server in under 30 minutes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PDFs, Word docs, emails, spreadsheets, audio recordings, and images via OCR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questions, builds timelines, assesses risk, and drafts memos — instantly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subscriptions, no per-query fees, no vendor lock-in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4206240"/>
            <a:ext cx="2560320" cy="713232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233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Air-Gapped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45720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cloud exposure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4206240"/>
            <a:ext cx="2560320" cy="713232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4233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30 Min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91840" y="45720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4206240"/>
            <a:ext cx="2560320" cy="713232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4233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8E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 / query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80760" y="45720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fees, ever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Sherlock Legal Intelligence™  —  Proprietary &amp; Confidential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0" y="5102352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Capabilities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16459"/>
          </a:xfrm>
          <a:prstGeom prst="rect">
            <a:avLst/>
          </a:prstGeom>
          <a:solidFill>
            <a:srgbClr val="2E3350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60520" cy="361188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📄  Document Intelligence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32004" cy="3611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627632"/>
            <a:ext cx="3858768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DOCX, TXT, XLSX, EML ingestion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MP3/WAV audio — Whisper transcription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TIFF/JPG/PNG — OCR via Tesseract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search across all files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chunking, deduplication &amp; change detection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/ network share monitoring with auto-reindex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170432"/>
            <a:ext cx="4160520" cy="361188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801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⚖️  AI Analysis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170432"/>
            <a:ext cx="32004" cy="3611880"/>
          </a:xfrm>
          <a:prstGeom prst="rect">
            <a:avLst/>
          </a:prstGeom>
          <a:solidFill>
            <a:srgbClr val="E2C97E"/>
          </a:solidFill>
          <a:ln w="12700">
            <a:solidFill>
              <a:srgbClr val="E2C9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627632"/>
            <a:ext cx="3858768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query modes: Auto / Summary / Timeline / Risk / Drafting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Role-tuned responses: Partner · Associate · Paralegal · Client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extractor — every date &amp; filing window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Auto-Brief — instant executive summary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formatted Word memo with citations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research mode (local SearXNG, toggleable)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Sherlock Legal Intelligence™  —  Proprietary &amp; Confidential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0" y="5102352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Mode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7680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case law, not just case files.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8138160" cy="16459"/>
          </a:xfrm>
          <a:prstGeom prst="rect">
            <a:avLst/>
          </a:prstGeom>
          <a:solidFill>
            <a:srgbClr val="2E3350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you need case law, not just case files.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5577840" cy="30175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internet research mode — toggle on/off per query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SearXNG search engine: no external API keys, no data leakage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indexed document evidence with public web results (statutes, case law, regulations)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separates [Doc: filename] citations from [Web: url] citations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by default — research mode requires a deliberate per-query decision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261872"/>
            <a:ext cx="2560320" cy="502920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29844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Documents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72200" y="19568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72200" y="2578608"/>
            <a:ext cx="2560320" cy="502920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261518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 SearXNG)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72200" y="32735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72200" y="3895344"/>
            <a:ext cx="2560320" cy="502920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39319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2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2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Memo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Sherlock Legal Intelligence™  —  Proprietary &amp; Confidential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0" y="5102352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Compliance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7680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most demanding privilege requirements.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8138160" cy="16459"/>
          </a:xfrm>
          <a:prstGeom prst="rect">
            <a:avLst/>
          </a:prstGeom>
          <a:solidFill>
            <a:srgbClr val="2E3350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34440"/>
            <a:ext cx="4114800" cy="1572768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34440"/>
            <a:ext cx="4114800" cy="36576"/>
          </a:xfrm>
          <a:prstGeom prst="rect">
            <a:avLst/>
          </a:prstGeom>
          <a:solidFill>
            <a:srgbClr val="4CAF7A"/>
          </a:solidFill>
          <a:ln w="12700">
            <a:solidFill>
              <a:srgbClr val="4CAF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🔒  Zero Cloud Dependency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709928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inference on-device via Ollama + local LLM. Nothing touches the internet.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4114800" cy="1572768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234440"/>
            <a:ext cx="4114800" cy="36576"/>
          </a:xfrm>
          <a:prstGeom prst="rect">
            <a:avLst/>
          </a:prstGeom>
          <a:solidFill>
            <a:srgbClr val="4CAF7A"/>
          </a:solidFill>
          <a:ln w="12700">
            <a:solidFill>
              <a:srgbClr val="4CAF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Full Audit Log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709928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login, file access, query, and export logged with timestamp + user ID.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017520"/>
            <a:ext cx="4114800" cy="1572768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017520"/>
            <a:ext cx="4114800" cy="36576"/>
          </a:xfrm>
          <a:prstGeom prst="rect">
            <a:avLst/>
          </a:prstGeom>
          <a:solidFill>
            <a:srgbClr val="4CAF7A"/>
          </a:solidFill>
          <a:ln w="12700">
            <a:solidFill>
              <a:srgbClr val="4CAF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👤  Role-Based Access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493008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Attorney / Paralegal / Client tiers with scoped document access.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114800" cy="1572768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017520"/>
            <a:ext cx="4114800" cy="36576"/>
          </a:xfrm>
          <a:prstGeom prst="rect">
            <a:avLst/>
          </a:prstGeom>
          <a:solidFill>
            <a:srgbClr val="4CAF7A"/>
          </a:solidFill>
          <a:ln w="12700">
            <a:solidFill>
              <a:srgbClr val="4CAF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🛡️  JWT Auth + Rate Limits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493008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session expiry, per-user rate limiting, and request throttling.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Sherlock Legal Intelligence™  —  Proprietary &amp; Confidential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0" y="5102352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7680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document to answer in seconds.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8138160" cy="16459"/>
          </a:xfrm>
          <a:prstGeom prst="rect">
            <a:avLst/>
          </a:prstGeom>
          <a:solidFill>
            <a:srgbClr val="2E3350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71600"/>
            <a:ext cx="1170432" cy="841248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26464"/>
            <a:ext cx="11704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27048" y="1572768"/>
            <a:ext cx="164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691640" y="1371600"/>
            <a:ext cx="1170432" cy="841248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1426464"/>
            <a:ext cx="11704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98648" y="1572768"/>
            <a:ext cx="164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63240" y="1371600"/>
            <a:ext cx="1170432" cy="841248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1426464"/>
            <a:ext cx="11704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70248" y="1572768"/>
            <a:ext cx="164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434840" y="1371600"/>
            <a:ext cx="1170432" cy="841248"/>
          </a:xfrm>
          <a:prstGeom prst="rect">
            <a:avLst/>
          </a:prstGeom>
          <a:solidFill>
            <a:srgbClr val="C9A84C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426464"/>
            <a:ext cx="11704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41848" y="1572768"/>
            <a:ext cx="164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806440" y="1371600"/>
            <a:ext cx="1170432" cy="841248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1426464"/>
            <a:ext cx="11704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13448" y="1572768"/>
            <a:ext cx="164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178040" y="1371600"/>
            <a:ext cx="1170432" cy="841248"/>
          </a:xfrm>
          <a:prstGeom prst="rect">
            <a:avLst/>
          </a:prstGeom>
          <a:solidFill>
            <a:srgbClr val="4CAF7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1426464"/>
            <a:ext cx="11704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2304288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disk/NAS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91640" y="2304288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text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063240" y="2304288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34840" y="2304288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06440" y="2304288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custom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178040" y="2304288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0040" y="2606040"/>
            <a:ext cx="8503920" cy="21488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indexed once, queried instantly — no re-processing on each query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model: nomic-embed-text (137M params, ~1s query embedding)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runs locally on Apple Silicon M1/M2 or any modern server GPU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end-to-end response: 2–8 seconds with streaming output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Sherlock Legal Intelligence™  —  Proprietary &amp; Confidential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0" y="5102352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7680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hardware you already own.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8138160" cy="16459"/>
          </a:xfrm>
          <a:prstGeom prst="rect">
            <a:avLst/>
          </a:prstGeom>
          <a:solidFill>
            <a:srgbClr val="2E3350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34440"/>
            <a:ext cx="2633472" cy="1572768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34440"/>
            <a:ext cx="29261" cy="1572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258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💻  Hardware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M1/M2 Mac with 16GB RAM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equivalent Linux server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54680" y="1234440"/>
            <a:ext cx="2633472" cy="1572768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234440"/>
            <a:ext cx="29261" cy="1572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3258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⏱  Install 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6916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minutes including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downloads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89320" y="1234440"/>
            <a:ext cx="2633472" cy="1572768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9320" y="1234440"/>
            <a:ext cx="29261" cy="1572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3258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🐳  Stack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16916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ChromaDB, SearXNG,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— one command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2990088"/>
            <a:ext cx="2633472" cy="1572768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990088"/>
            <a:ext cx="29261" cy="1572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815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🧙  Setup Wizard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44728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wizard — zero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required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154680" y="2990088"/>
            <a:ext cx="2633472" cy="1572768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54680" y="2990088"/>
            <a:ext cx="29261" cy="1572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0815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🔐  TLS Included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91840" y="344728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self-signed cert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secure LAN access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89320" y="2990088"/>
            <a:ext cx="2633472" cy="1572768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89320" y="2990088"/>
            <a:ext cx="29261" cy="1572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30815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📦  Air-Gap Bundle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26480" y="344728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offline installer 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at deploy time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Sherlock Legal Intelligence™  —  Proprietary &amp; Confidential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0" y="5102352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&amp; Management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7680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visibility and control.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8138160" cy="16459"/>
          </a:xfrm>
          <a:prstGeom prst="rect">
            <a:avLst/>
          </a:prstGeom>
          <a:solidFill>
            <a:srgbClr val="2E3350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5486400" cy="35204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admin panel — user management, system status, NAS path configuration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log viewer — 4 structured log streams: App · Audit · RAG · Indexer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dashboard — per-user query volume, daily trends, query-type breakdown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indexer status — files indexed, skipped, errors per job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global re-index across all monitored NAS paths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NAS path failures and alerts users with dismissible banner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234440"/>
            <a:ext cx="2423160" cy="457200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234440"/>
            <a:ext cx="2743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2984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User Mgmt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810512"/>
            <a:ext cx="2423160" cy="457200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810512"/>
            <a:ext cx="2743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87452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Usage Stats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2386584"/>
            <a:ext cx="2423160" cy="457200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386584"/>
            <a:ext cx="2743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45059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Live Logs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2962656"/>
            <a:ext cx="2423160" cy="457200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962656"/>
            <a:ext cx="2743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02666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Config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538728"/>
            <a:ext cx="2423160" cy="457200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538728"/>
            <a:ext cx="2743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60273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Re-Index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4114800"/>
            <a:ext cx="2423160" cy="457200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4114800"/>
            <a:ext cx="2743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17880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NAS Status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Sherlock Legal Intelligence™  —  Proprietary &amp; Confidential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0" y="5102352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16459"/>
          </a:xfrm>
          <a:prstGeom prst="rect">
            <a:avLst/>
          </a:prstGeom>
          <a:solidFill>
            <a:srgbClr val="2E3350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2194560" cy="438912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2252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188720"/>
            <a:ext cx="1371600" cy="438912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7752" y="12252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Sherlock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86200" y="1188720"/>
            <a:ext cx="1600200" cy="438912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59352" y="122529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1188720"/>
            <a:ext cx="1371600" cy="438912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59552" y="12252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Relativity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1188720"/>
            <a:ext cx="1371600" cy="438912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1152" y="12252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Lexis AI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1627632"/>
            <a:ext cx="2194560" cy="438912"/>
          </a:xfrm>
          <a:prstGeom prst="rect">
            <a:avLst/>
          </a:prstGeom>
          <a:solidFill>
            <a:srgbClr val="0F111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170078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514600" y="1627632"/>
            <a:ext cx="1371600" cy="438912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87752" y="17007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86200" y="1627632"/>
            <a:ext cx="1600200" cy="438912"/>
          </a:xfrm>
          <a:prstGeom prst="rect">
            <a:avLst/>
          </a:prstGeom>
          <a:solidFill>
            <a:srgbClr val="0F111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59352" y="170078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0" y="1627632"/>
            <a:ext cx="1371600" cy="438912"/>
          </a:xfrm>
          <a:prstGeom prst="rect">
            <a:avLst/>
          </a:prstGeom>
          <a:solidFill>
            <a:srgbClr val="0F111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59552" y="17007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0" y="1627632"/>
            <a:ext cx="1371600" cy="438912"/>
          </a:xfrm>
          <a:prstGeom prst="rect">
            <a:avLst/>
          </a:prstGeom>
          <a:solidFill>
            <a:srgbClr val="0F111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31152" y="17007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0040" y="2103120"/>
            <a:ext cx="2194560" cy="43891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21762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514600" y="2103120"/>
            <a:ext cx="1371600" cy="438912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87752" y="21762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86200" y="2103120"/>
            <a:ext cx="1600200" cy="43891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59352" y="217627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86400" y="2103120"/>
            <a:ext cx="1371600" cy="43891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59552" y="21762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C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2103120"/>
            <a:ext cx="1371600" cy="43891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31152" y="21762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0040" y="2578608"/>
            <a:ext cx="2194560" cy="438912"/>
          </a:xfrm>
          <a:prstGeom prst="rect">
            <a:avLst/>
          </a:prstGeom>
          <a:solidFill>
            <a:srgbClr val="0F111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" y="26517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Subscription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514600" y="2578608"/>
            <a:ext cx="1371600" cy="438912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87752" y="2651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86200" y="2578608"/>
            <a:ext cx="1600200" cy="438912"/>
          </a:xfrm>
          <a:prstGeom prst="rect">
            <a:avLst/>
          </a:prstGeom>
          <a:solidFill>
            <a:srgbClr val="0F111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59352" y="26517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486400" y="2578608"/>
            <a:ext cx="1371600" cy="438912"/>
          </a:xfrm>
          <a:prstGeom prst="rect">
            <a:avLst/>
          </a:prstGeom>
          <a:solidFill>
            <a:srgbClr val="0F111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59552" y="2651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858000" y="2578608"/>
            <a:ext cx="1371600" cy="438912"/>
          </a:xfrm>
          <a:prstGeom prst="rect">
            <a:avLst/>
          </a:prstGeom>
          <a:solidFill>
            <a:srgbClr val="0F111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31152" y="2651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20040" y="3054096"/>
            <a:ext cx="2194560" cy="43891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192" y="31272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$10K Total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514600" y="3054096"/>
            <a:ext cx="1371600" cy="438912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87752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886200" y="3054096"/>
            <a:ext cx="1600200" cy="43891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59352" y="312724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486400" y="3054096"/>
            <a:ext cx="1371600" cy="43891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59552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858000" y="3054096"/>
            <a:ext cx="1371600" cy="43891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31152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20040" y="3529584"/>
            <a:ext cx="2194560" cy="438912"/>
          </a:xfrm>
          <a:prstGeom prst="rect">
            <a:avLst/>
          </a:prstGeom>
          <a:solidFill>
            <a:srgbClr val="0F111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3192" y="36027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Transcription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2514600" y="3529584"/>
            <a:ext cx="1371600" cy="438912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87752" y="36027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3886200" y="3529584"/>
            <a:ext cx="1600200" cy="438912"/>
          </a:xfrm>
          <a:prstGeom prst="rect">
            <a:avLst/>
          </a:prstGeom>
          <a:solidFill>
            <a:srgbClr val="0F111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959352" y="360273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5486400" y="3529584"/>
            <a:ext cx="1371600" cy="438912"/>
          </a:xfrm>
          <a:prstGeom prst="rect">
            <a:avLst/>
          </a:prstGeom>
          <a:solidFill>
            <a:srgbClr val="0F111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59552" y="36027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858000" y="3529584"/>
            <a:ext cx="1371600" cy="438912"/>
          </a:xfrm>
          <a:prstGeom prst="rect">
            <a:avLst/>
          </a:prstGeom>
          <a:solidFill>
            <a:srgbClr val="0F111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31152" y="36027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320040" y="4005072"/>
            <a:ext cx="2194560" cy="43891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93192" y="40782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LLM Models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2514600" y="4005072"/>
            <a:ext cx="1371600" cy="438912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87752" y="40782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3886200" y="4005072"/>
            <a:ext cx="1600200" cy="43891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959352" y="407822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5486400" y="4005072"/>
            <a:ext cx="1371600" cy="43891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59552" y="40782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858000" y="4005072"/>
            <a:ext cx="1371600" cy="43891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931152" y="40782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Sherlock Legal Intelligence™  —  Proprietary &amp; Confidential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0" y="5102352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7680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deposition review to same-day matter briefs.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8138160" cy="16459"/>
          </a:xfrm>
          <a:prstGeom prst="rect">
            <a:avLst/>
          </a:prstGeom>
          <a:solidFill>
            <a:srgbClr val="2E3350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2633472" cy="373075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88720"/>
            <a:ext cx="2633472" cy="36576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8016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29768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Litigation Support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267712"/>
            <a:ext cx="235915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deposition review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reconstruction across hundreds of docs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evidence gap analysis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deadline extraction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54680" y="1188720"/>
            <a:ext cx="2633472" cy="373075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188720"/>
            <a:ext cx="263347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28016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📑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64408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 Review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2267712"/>
            <a:ext cx="235915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Red-flag clause detection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standard provision alerts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&amp; notice requirement extraction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support with precedent language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89320" y="1188720"/>
            <a:ext cx="2633472" cy="373075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1188720"/>
            <a:ext cx="2633472" cy="36576"/>
          </a:xfrm>
          <a:prstGeom prst="rect">
            <a:avLst/>
          </a:prstGeom>
          <a:solidFill>
            <a:srgbClr val="4CAF7A"/>
          </a:solidFill>
          <a:ln w="12700">
            <a:solidFill>
              <a:srgbClr val="4CAF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28016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099048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Matter Onboarding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2267712"/>
            <a:ext cx="235915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Auto-brief generation on day one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parties &amp; allegations summary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deadline dashboard on open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intake — transcribe client call immediately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Sherlock Legal Intelligence™  —  Proprietary &amp; Confidential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0" y="5102352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12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SHERLOCK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Intelligence. Offline.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2688336"/>
            <a:ext cx="9144000" cy="20117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16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documents. Your server. Your control.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3101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2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 to schedule a private demonstration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3730752"/>
            <a:ext cx="4023360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749040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Request a Demo  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7365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Sherlock Legal Intelligence™  —  All Rights Reserved  —  Proprietary &amp; Confidential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Sherlock Legal Intelligence</dc:title>
  <dc:subject>PptxGenJS Presentation</dc:subject>
  <dc:creator>Sherlock Legal Intelligence</dc:creator>
  <cp:lastModifiedBy>Sherlock Legal Intelligence</cp:lastModifiedBy>
  <cp:revision>1</cp:revision>
  <dcterms:created xsi:type="dcterms:W3CDTF">2026-03-18T08:15:17Z</dcterms:created>
  <dcterms:modified xsi:type="dcterms:W3CDTF">2026-03-18T08:15:17Z</dcterms:modified>
</cp:coreProperties>
</file>